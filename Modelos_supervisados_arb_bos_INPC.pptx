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matic SC"/>
      <p:regular r:id="rId16"/>
      <p:bold r:id="rId17"/>
    </p:embeddedFont>
    <p:embeddedFont>
      <p:font typeface="EB Garamond Medium"/>
      <p:regular r:id="rId18"/>
      <p:bold r:id="rId19"/>
      <p:italic r:id="rId20"/>
      <p:boldItalic r:id="rId21"/>
    </p:embeddedFont>
    <p:embeddedFont>
      <p:font typeface="EB Garamond SemiBold"/>
      <p:regular r:id="rId22"/>
      <p:bold r:id="rId23"/>
      <p:italic r:id="rId24"/>
      <p:boldItalic r:id="rId25"/>
    </p:embeddedFont>
    <p:embeddedFont>
      <p:font typeface="Oswald Light"/>
      <p:regular r:id="rId26"/>
      <p:bold r:id="rId27"/>
    </p:embeddedFont>
    <p:embeddedFont>
      <p:font typeface="Pacifico"/>
      <p:regular r:id="rId28"/>
    </p:embeddedFont>
    <p:embeddedFont>
      <p:font typeface="Oswald"/>
      <p:regular r:id="rId29"/>
      <p:bold r:id="rId30"/>
    </p:embeddedFont>
    <p:embeddedFont>
      <p:font typeface="Nunito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Medium-italic.fntdata"/><Relationship Id="rId22" Type="http://schemas.openxmlformats.org/officeDocument/2006/relationships/font" Target="fonts/EBGaramondSemiBold-regular.fntdata"/><Relationship Id="rId21" Type="http://schemas.openxmlformats.org/officeDocument/2006/relationships/font" Target="fonts/EBGaramondMedium-boldItalic.fntdata"/><Relationship Id="rId24" Type="http://schemas.openxmlformats.org/officeDocument/2006/relationships/font" Target="fonts/EBGaramondSemiBold-italic.fntdata"/><Relationship Id="rId23" Type="http://schemas.openxmlformats.org/officeDocument/2006/relationships/font" Target="fonts/EBGaramond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Light-regular.fntdata"/><Relationship Id="rId25" Type="http://schemas.openxmlformats.org/officeDocument/2006/relationships/font" Target="fonts/EBGaramondSemiBold-boldItalic.fntdata"/><Relationship Id="rId28" Type="http://schemas.openxmlformats.org/officeDocument/2006/relationships/font" Target="fonts/Pacifico-regular.fntdata"/><Relationship Id="rId27" Type="http://schemas.openxmlformats.org/officeDocument/2006/relationships/font" Target="fonts/Oswald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Light-regular.fntdata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33" Type="http://schemas.openxmlformats.org/officeDocument/2006/relationships/font" Target="fonts/NunitoLight-italic.fntdata"/><Relationship Id="rId10" Type="http://schemas.openxmlformats.org/officeDocument/2006/relationships/slide" Target="slides/slide5.xml"/><Relationship Id="rId32" Type="http://schemas.openxmlformats.org/officeDocument/2006/relationships/font" Target="fonts/Nunito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NunitoLigh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19" Type="http://schemas.openxmlformats.org/officeDocument/2006/relationships/font" Target="fonts/EBGaramondMedium-bold.fntdata"/><Relationship Id="rId18" Type="http://schemas.openxmlformats.org/officeDocument/2006/relationships/font" Target="fonts/EBGaramond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96e9e082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96e9e082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972142d7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972142d7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972142d7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972142d7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72142d7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972142d7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6e9e082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6e9e082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972142d7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972142d7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72142d7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972142d7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972142d7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972142d7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72142d7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72142d7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52401" y="189575"/>
            <a:ext cx="7974300" cy="17100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300">
                <a:latin typeface="EB Garamond SemiBold"/>
                <a:ea typeface="EB Garamond SemiBold"/>
                <a:cs typeface="EB Garamond SemiBold"/>
                <a:sym typeface="EB Garamond SemiBold"/>
              </a:rPr>
              <a:t>Aplicación de Modelos de predicción para el estudio del </a:t>
            </a:r>
            <a:endParaRPr sz="43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42225" y="2080475"/>
            <a:ext cx="8520600" cy="11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0000"/>
                </a:solidFill>
                <a:latin typeface="Pacifico"/>
                <a:ea typeface="Pacifico"/>
                <a:cs typeface="Pacifico"/>
                <a:sym typeface="Pacifico"/>
              </a:rPr>
              <a:t>I</a:t>
            </a:r>
            <a:r>
              <a:rPr lang="es" u="sng">
                <a:solidFill>
                  <a:srgbClr val="000000"/>
                </a:solidFill>
                <a:latin typeface="Pacifico"/>
                <a:ea typeface="Pacifico"/>
                <a:cs typeface="Pacifico"/>
                <a:sym typeface="Pacifico"/>
              </a:rPr>
              <a:t>mpacto de la inflación en el poder </a:t>
            </a:r>
            <a:endParaRPr u="sng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0000"/>
                </a:solidFill>
                <a:latin typeface="Pacifico"/>
                <a:ea typeface="Pacifico"/>
                <a:cs typeface="Pacifico"/>
                <a:sym typeface="Pacifico"/>
              </a:rPr>
              <a:t>adquisitivo de hogares mexicanos</a:t>
            </a:r>
            <a:endParaRPr u="sng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445250" y="1899575"/>
            <a:ext cx="6082500" cy="1469700"/>
          </a:xfrm>
          <a:prstGeom prst="frame">
            <a:avLst>
              <a:gd fmla="val 12500" name="adj1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378575" y="3603575"/>
            <a:ext cx="2384400" cy="1422600"/>
          </a:xfrm>
          <a:prstGeom prst="foldedCorner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latin typeface="Amatic SC"/>
                <a:ea typeface="Amatic SC"/>
                <a:cs typeface="Amatic SC"/>
                <a:sym typeface="Amatic SC"/>
              </a:rPr>
              <a:t>María José </a:t>
            </a:r>
            <a:endParaRPr sz="21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latin typeface="Amatic SC"/>
                <a:ea typeface="Amatic SC"/>
                <a:cs typeface="Amatic SC"/>
                <a:sym typeface="Amatic SC"/>
              </a:rPr>
              <a:t>Mendoza Rojas</a:t>
            </a:r>
            <a:endParaRPr sz="2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44">
                <a:latin typeface="EB Garamond SemiBold"/>
                <a:ea typeface="EB Garamond SemiBold"/>
                <a:cs typeface="EB Garamond SemiBold"/>
                <a:sym typeface="EB Garamond SemiBold"/>
              </a:rPr>
              <a:t>Modelos a utilizar</a:t>
            </a: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 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892250" y="485175"/>
            <a:ext cx="3259500" cy="601800"/>
          </a:xfrm>
          <a:prstGeom prst="frame">
            <a:avLst>
              <a:gd fmla="val 12500" name="adj1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06475" y="1274150"/>
            <a:ext cx="4479000" cy="30642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Utilizaremos dos modelos que son de aprendizaje supervisado: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</a:t>
            </a:r>
            <a:r>
              <a:rPr lang="es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Árboles de decisión de tipo regresión</a:t>
            </a: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</a:t>
            </a:r>
            <a:r>
              <a:rPr lang="es">
                <a:solidFill>
                  <a:schemeClr val="dk1"/>
                </a:solidFill>
                <a:latin typeface="Nunito Light"/>
                <a:ea typeface="Nunito Light"/>
                <a:cs typeface="Nunito Light"/>
                <a:sym typeface="Nunito Light"/>
              </a:rPr>
              <a:t>Bosques aleatorios </a:t>
            </a: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977125" y="2384150"/>
            <a:ext cx="101625" cy="140700"/>
          </a:xfrm>
          <a:prstGeom prst="flowChartPreparation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977125" y="2790325"/>
            <a:ext cx="101625" cy="140700"/>
          </a:xfrm>
          <a:prstGeom prst="flowChartPreparation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600" y="2652025"/>
            <a:ext cx="3693575" cy="20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5112225" y="2454500"/>
            <a:ext cx="3869400" cy="2352900"/>
          </a:xfrm>
          <a:prstGeom prst="frame">
            <a:avLst>
              <a:gd fmla="val 12500" name="adj1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250225" y="1180325"/>
            <a:ext cx="726900" cy="601800"/>
          </a:xfrm>
          <a:prstGeom prst="diagStripe">
            <a:avLst>
              <a:gd fmla="val 50000" name="adj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52525" y="65275"/>
            <a:ext cx="6449100" cy="1087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latin typeface="EB Garamond Medium"/>
                <a:ea typeface="EB Garamond Medium"/>
                <a:cs typeface="EB Garamond Medium"/>
                <a:sym typeface="EB Garamond Medium"/>
              </a:rPr>
              <a:t>Bases de datos originales de</a:t>
            </a:r>
            <a:r>
              <a:rPr lang="es" sz="2020"/>
              <a:t> </a:t>
            </a:r>
            <a:endParaRPr sz="202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520">
                <a:latin typeface="Courier New"/>
                <a:ea typeface="Courier New"/>
                <a:cs typeface="Courier New"/>
                <a:sym typeface="Courier New"/>
              </a:rPr>
              <a:t>Índice</a:t>
            </a:r>
            <a:r>
              <a:rPr lang="es" sz="1520">
                <a:latin typeface="Courier New"/>
                <a:ea typeface="Courier New"/>
                <a:cs typeface="Courier New"/>
                <a:sym typeface="Courier New"/>
              </a:rPr>
              <a:t> Nacional de Precio al consumidor y Canasta básica</a:t>
            </a:r>
            <a:r>
              <a:rPr lang="es" sz="2120"/>
              <a:t> </a:t>
            </a:r>
            <a:endParaRPr sz="2120"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75"/>
            <a:ext cx="2802671" cy="36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7471" y="1304875"/>
            <a:ext cx="5884130" cy="296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88125" y="54050"/>
            <a:ext cx="85206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20">
                <a:latin typeface="EB Garamond Medium"/>
                <a:ea typeface="EB Garamond Medium"/>
                <a:cs typeface="EB Garamond Medium"/>
                <a:sym typeface="EB Garamond Medium"/>
              </a:rPr>
              <a:t>Aplicación de modelo bosque aleatorio en </a:t>
            </a:r>
            <a:endParaRPr sz="2120"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520">
                <a:latin typeface="Courier New"/>
                <a:ea typeface="Courier New"/>
                <a:cs typeface="Courier New"/>
                <a:sym typeface="Courier New"/>
              </a:rPr>
              <a:t>Índice</a:t>
            </a:r>
            <a:r>
              <a:rPr lang="es" sz="1520">
                <a:latin typeface="Courier New"/>
                <a:ea typeface="Courier New"/>
                <a:cs typeface="Courier New"/>
                <a:sym typeface="Courier New"/>
              </a:rPr>
              <a:t> Nacional de precio al consumidor </a:t>
            </a:r>
            <a:endParaRPr sz="152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4450"/>
            <a:ext cx="35623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4124075" y="732050"/>
            <a:ext cx="4417500" cy="15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225" y="1382425"/>
            <a:ext cx="3492850" cy="872650"/>
          </a:xfrm>
          <a:prstGeom prst="rect">
            <a:avLst/>
          </a:prstGeom>
          <a:noFill/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6"/>
          <p:cNvSpPr/>
          <p:nvPr/>
        </p:nvSpPr>
        <p:spPr>
          <a:xfrm>
            <a:off x="4456150" y="957650"/>
            <a:ext cx="3537000" cy="309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ourier New"/>
                <a:ea typeface="Courier New"/>
                <a:cs typeface="Courier New"/>
                <a:sym typeface="Courier New"/>
              </a:rPr>
              <a:t>Predicción de 20% de nuestros datos de Porcentaje de inflación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147225" y="2463625"/>
            <a:ext cx="2216400" cy="8187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MSE(Error Cuadrático Medio)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865325"/>
            <a:ext cx="1244018" cy="267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1D3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6"/>
          <p:cNvSpPr/>
          <p:nvPr/>
        </p:nvSpPr>
        <p:spPr>
          <a:xfrm>
            <a:off x="5776800" y="3490875"/>
            <a:ext cx="2015700" cy="1004100"/>
          </a:xfrm>
          <a:prstGeom prst="flowChartAlternateProcess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Coeficiente de determinación o </a:t>
            </a:r>
            <a:r>
              <a:rPr b="1" lang="es" sz="900">
                <a:solidFill>
                  <a:srgbClr val="001D3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R²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7325" y="3977400"/>
            <a:ext cx="1419225" cy="314325"/>
          </a:xfrm>
          <a:prstGeom prst="rect">
            <a:avLst/>
          </a:prstGeom>
          <a:solidFill>
            <a:srgbClr val="B6D7A8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475" y="604850"/>
            <a:ext cx="5060600" cy="4355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2425000" y="84950"/>
            <a:ext cx="3336300" cy="424800"/>
          </a:xfrm>
          <a:prstGeom prst="homePlate">
            <a:avLst>
              <a:gd fmla="val 50000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Gráfica de Dispersión 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891125" y="171425"/>
            <a:ext cx="6449100" cy="1087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88">
                <a:latin typeface="EB Garamond Medium"/>
                <a:ea typeface="EB Garamond Medium"/>
                <a:cs typeface="EB Garamond Medium"/>
                <a:sym typeface="EB Garamond Medium"/>
              </a:rPr>
              <a:t>Bases de datos originales de</a:t>
            </a:r>
            <a:r>
              <a:rPr lang="es" sz="2688"/>
              <a:t> </a:t>
            </a:r>
            <a:endParaRPr sz="2688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33">
                <a:latin typeface="Courier New"/>
                <a:ea typeface="Courier New"/>
                <a:cs typeface="Courier New"/>
                <a:sym typeface="Courier New"/>
              </a:rPr>
              <a:t>Ingresos y Gastos Trimestrales</a:t>
            </a:r>
            <a:endParaRPr sz="2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33">
                <a:latin typeface="Courier New"/>
                <a:ea typeface="Courier New"/>
                <a:cs typeface="Courier New"/>
                <a:sym typeface="Courier New"/>
              </a:rPr>
              <a:t> por decil de hogar</a:t>
            </a:r>
            <a:r>
              <a:rPr lang="es"/>
              <a:t> 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00" y="1955000"/>
            <a:ext cx="4349576" cy="22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586950" y="1575475"/>
            <a:ext cx="2077500" cy="270300"/>
          </a:xfrm>
          <a:prstGeom prst="bevel">
            <a:avLst>
              <a:gd fmla="val 125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Ingresos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051" y="2422725"/>
            <a:ext cx="4465224" cy="24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5404025" y="1890075"/>
            <a:ext cx="2077500" cy="270300"/>
          </a:xfrm>
          <a:prstGeom prst="bevel">
            <a:avLst>
              <a:gd fmla="val 125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Gastos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188125" y="54050"/>
            <a:ext cx="85206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20">
                <a:latin typeface="EB Garamond Medium"/>
                <a:ea typeface="EB Garamond Medium"/>
                <a:cs typeface="EB Garamond Medium"/>
                <a:sym typeface="EB Garamond Medium"/>
              </a:rPr>
              <a:t>Aplicación de ambos modelos en </a:t>
            </a:r>
            <a:endParaRPr sz="2120"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520">
                <a:latin typeface="Courier New"/>
                <a:ea typeface="Courier New"/>
                <a:cs typeface="Courier New"/>
                <a:sym typeface="Courier New"/>
              </a:rPr>
              <a:t>los ingresos trimestrales por decil de hogar</a:t>
            </a:r>
            <a:endParaRPr sz="152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75" y="956825"/>
            <a:ext cx="3070950" cy="3007625"/>
          </a:xfrm>
          <a:prstGeom prst="rect">
            <a:avLst/>
          </a:prstGeom>
          <a:noFill/>
          <a:ln cap="flat" cmpd="sng" w="9525">
            <a:solidFill>
              <a:srgbClr val="001D3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19"/>
          <p:cNvSpPr/>
          <p:nvPr/>
        </p:nvSpPr>
        <p:spPr>
          <a:xfrm>
            <a:off x="3869200" y="732050"/>
            <a:ext cx="4734300" cy="3847800"/>
          </a:xfrm>
          <a:prstGeom prst="foldedCorner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113" y="844838"/>
            <a:ext cx="2125875" cy="3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4933938" y="803775"/>
            <a:ext cx="2170200" cy="440100"/>
          </a:xfrm>
          <a:prstGeom prst="frame">
            <a:avLst>
              <a:gd fmla="val 12500" name="adj1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6522" y="1805425"/>
            <a:ext cx="3882818" cy="4401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9"/>
          <p:cNvSpPr/>
          <p:nvPr/>
        </p:nvSpPr>
        <p:spPr>
          <a:xfrm>
            <a:off x="3918513" y="1430600"/>
            <a:ext cx="2517600" cy="338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Predicción del 20% de nuestros </a:t>
            </a: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datos</a:t>
            </a: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 de Ingresos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3875913" y="2281938"/>
            <a:ext cx="2602800" cy="287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MSE(Error Cuadrático Medio)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3918525" y="3013775"/>
            <a:ext cx="2309400" cy="299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Courier New"/>
                <a:ea typeface="Courier New"/>
                <a:cs typeface="Courier New"/>
                <a:sym typeface="Courier New"/>
              </a:rPr>
              <a:t>RMSE(Raíz del error </a:t>
            </a:r>
            <a:r>
              <a:rPr b="1" lang="es" sz="1000">
                <a:latin typeface="Courier New"/>
                <a:ea typeface="Courier New"/>
                <a:cs typeface="Courier New"/>
                <a:sym typeface="Courier New"/>
              </a:rPr>
              <a:t>cuadrático</a:t>
            </a:r>
            <a:r>
              <a:rPr b="1" lang="es" sz="1000">
                <a:latin typeface="Courier New"/>
                <a:ea typeface="Courier New"/>
                <a:cs typeface="Courier New"/>
                <a:sym typeface="Courier New"/>
              </a:rPr>
              <a:t> medio)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4022625" y="3652975"/>
            <a:ext cx="2309400" cy="342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Coeficiente de determinación o </a:t>
            </a:r>
            <a:r>
              <a:rPr b="1" lang="es" sz="900">
                <a:solidFill>
                  <a:srgbClr val="001D3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R²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5625" y="2633600"/>
            <a:ext cx="891275" cy="287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68957" y="4081725"/>
            <a:ext cx="1463066" cy="399025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95625" y="3401338"/>
            <a:ext cx="1562100" cy="200025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617825" y="46325"/>
            <a:ext cx="3792000" cy="48888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375" y="226350"/>
            <a:ext cx="1971400" cy="3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1220225" y="158788"/>
            <a:ext cx="2123700" cy="501900"/>
          </a:xfrm>
          <a:prstGeom prst="frame">
            <a:avLst>
              <a:gd fmla="val 12500" name="adj1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695175" y="774150"/>
            <a:ext cx="2471100" cy="268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Predicción del 20% de nuestros datos de Ingresos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949" y="1098625"/>
            <a:ext cx="3427352" cy="366775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20"/>
          <p:cNvSpPr/>
          <p:nvPr/>
        </p:nvSpPr>
        <p:spPr>
          <a:xfrm>
            <a:off x="629313" y="1602313"/>
            <a:ext cx="2602800" cy="287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MSE(Error Cuadrático Medio)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0700" y="1970900"/>
            <a:ext cx="1400175" cy="2667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0700" y="2831350"/>
            <a:ext cx="1619250" cy="200025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20"/>
          <p:cNvSpPr/>
          <p:nvPr/>
        </p:nvSpPr>
        <p:spPr>
          <a:xfrm>
            <a:off x="695175" y="2421900"/>
            <a:ext cx="2309400" cy="299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Courier New"/>
                <a:ea typeface="Courier New"/>
                <a:cs typeface="Courier New"/>
                <a:sym typeface="Courier New"/>
              </a:rPr>
              <a:t>RMSE(Raíz del error cuadrático medio)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695175" y="3141125"/>
            <a:ext cx="2309400" cy="342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Coeficiente de determinación o </a:t>
            </a:r>
            <a:r>
              <a:rPr b="1" lang="es" sz="900">
                <a:solidFill>
                  <a:srgbClr val="001D3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R²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92075" y="3678100"/>
            <a:ext cx="13620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/>
          <p:nvPr/>
        </p:nvSpPr>
        <p:spPr>
          <a:xfrm>
            <a:off x="5012200" y="571500"/>
            <a:ext cx="3336300" cy="424800"/>
          </a:xfrm>
          <a:prstGeom prst="homePlate">
            <a:avLst>
              <a:gd fmla="val 50000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Gráfica de </a:t>
            </a: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Dispersión</a:t>
            </a: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 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3" y="1256900"/>
            <a:ext cx="4453922" cy="35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195850" y="46325"/>
            <a:ext cx="85206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20">
                <a:latin typeface="EB Garamond Medium"/>
                <a:ea typeface="EB Garamond Medium"/>
                <a:cs typeface="EB Garamond Medium"/>
                <a:sym typeface="EB Garamond Medium"/>
              </a:rPr>
              <a:t>Aplicación de ambos modelos en </a:t>
            </a:r>
            <a:endParaRPr sz="2120"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520">
                <a:latin typeface="Courier New"/>
                <a:ea typeface="Courier New"/>
                <a:cs typeface="Courier New"/>
                <a:sym typeface="Courier New"/>
              </a:rPr>
              <a:t>los Gastos trimestrales por decil de hogar</a:t>
            </a:r>
            <a:endParaRPr sz="152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50" y="1100675"/>
            <a:ext cx="3129875" cy="30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/>
          <p:nvPr/>
        </p:nvSpPr>
        <p:spPr>
          <a:xfrm>
            <a:off x="3830600" y="724325"/>
            <a:ext cx="4239900" cy="43653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663" y="829388"/>
            <a:ext cx="2125875" cy="3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/>
          <p:nvPr/>
        </p:nvSpPr>
        <p:spPr>
          <a:xfrm>
            <a:off x="4933938" y="803775"/>
            <a:ext cx="2170200" cy="440100"/>
          </a:xfrm>
          <a:prstGeom prst="frame">
            <a:avLst>
              <a:gd fmla="val 12500" name="adj1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3861600" y="1368825"/>
            <a:ext cx="2471100" cy="268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Predicción del 20% de nuestros datos de Gastos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0049" y="1762276"/>
            <a:ext cx="3649126" cy="399025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1"/>
          <p:cNvSpPr/>
          <p:nvPr/>
        </p:nvSpPr>
        <p:spPr>
          <a:xfrm>
            <a:off x="3861588" y="2286238"/>
            <a:ext cx="2602800" cy="287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MSE(Error Cuadrático Medio)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7900" y="2679700"/>
            <a:ext cx="1390650" cy="257175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21"/>
          <p:cNvSpPr/>
          <p:nvPr/>
        </p:nvSpPr>
        <p:spPr>
          <a:xfrm>
            <a:off x="3861600" y="3078350"/>
            <a:ext cx="2309400" cy="299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Courier New"/>
                <a:ea typeface="Courier New"/>
                <a:cs typeface="Courier New"/>
                <a:sym typeface="Courier New"/>
              </a:rPr>
              <a:t>RMSE(Raíz del error cuadrático medio)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9275" y="3455275"/>
            <a:ext cx="1781175" cy="1905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21"/>
          <p:cNvSpPr/>
          <p:nvPr/>
        </p:nvSpPr>
        <p:spPr>
          <a:xfrm>
            <a:off x="3861600" y="3723000"/>
            <a:ext cx="2309400" cy="342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Coeficiente de determinación o </a:t>
            </a:r>
            <a:r>
              <a:rPr b="1" lang="es" sz="900">
                <a:solidFill>
                  <a:srgbClr val="001D3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R²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4400" y="4200950"/>
            <a:ext cx="1381125" cy="333375"/>
          </a:xfrm>
          <a:prstGeom prst="rect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/>
          <p:nvPr/>
        </p:nvSpPr>
        <p:spPr>
          <a:xfrm>
            <a:off x="223950" y="54050"/>
            <a:ext cx="3792000" cy="48888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1220225" y="158788"/>
            <a:ext cx="2123700" cy="501900"/>
          </a:xfrm>
          <a:prstGeom prst="frame">
            <a:avLst>
              <a:gd fmla="val 12500" name="adj1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375" y="226350"/>
            <a:ext cx="1971400" cy="3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/>
          <p:nvPr/>
        </p:nvSpPr>
        <p:spPr>
          <a:xfrm>
            <a:off x="278000" y="761688"/>
            <a:ext cx="2270700" cy="366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Predicción del 20% de nuestros datos de Gastos</a:t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349" y="1196775"/>
            <a:ext cx="3381300" cy="42505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22"/>
          <p:cNvSpPr/>
          <p:nvPr/>
        </p:nvSpPr>
        <p:spPr>
          <a:xfrm>
            <a:off x="278000" y="1690000"/>
            <a:ext cx="2092800" cy="3090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MSE(Error Cuadrático Medio)</a:t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4025" y="2098575"/>
            <a:ext cx="1495425" cy="257175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" name="Google Shape;167;p22"/>
          <p:cNvSpPr/>
          <p:nvPr/>
        </p:nvSpPr>
        <p:spPr>
          <a:xfrm>
            <a:off x="378875" y="2502250"/>
            <a:ext cx="2092800" cy="309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RMSE(Raíz del error cuadrático medio)</a:t>
            </a:r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1638" y="2878600"/>
            <a:ext cx="1600200" cy="276225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2"/>
          <p:cNvSpPr/>
          <p:nvPr/>
        </p:nvSpPr>
        <p:spPr>
          <a:xfrm>
            <a:off x="316750" y="3282800"/>
            <a:ext cx="2309400" cy="342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Coeficiente de determinación o </a:t>
            </a:r>
            <a:r>
              <a:rPr b="1" lang="es" sz="900">
                <a:solidFill>
                  <a:srgbClr val="001D3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R²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53275" y="3861200"/>
            <a:ext cx="1390650" cy="190500"/>
          </a:xfrm>
          <a:prstGeom prst="rect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6400" y="1321337"/>
            <a:ext cx="4164725" cy="33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/>
          <p:nvPr/>
        </p:nvSpPr>
        <p:spPr>
          <a:xfrm>
            <a:off x="5012200" y="571500"/>
            <a:ext cx="3336300" cy="424800"/>
          </a:xfrm>
          <a:prstGeom prst="homePlate">
            <a:avLst>
              <a:gd fmla="val 50000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 Light"/>
                <a:ea typeface="Oswald Light"/>
                <a:cs typeface="Oswald Light"/>
                <a:sym typeface="Oswald Light"/>
              </a:rPr>
              <a:t>Gráfica de Dispersión 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